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097280"/>
            <a:ext cx="4114800" cy="4114800"/>
          </a:xfrm>
          <a:prstGeom prst="arc">
            <a:avLst/>
          </a:prstGeom>
          <a:noFill/>
          <a:ln w="50800">
            <a:solidFill>
              <a:srgbClr val="64CCC5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057400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49808" y="278892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경과 보고가 아니라, 의사결정·교훈·재사용 가능한 원칙을 남기는 발표자료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MVP 완성 후 회고를 쉽게 하기 위해 지금부터 기록의 틀을 만든다.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49808" y="480060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2026.06 · 경기도 5070 일자리박람회 이력서 사전 접수 흐름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작업의 핵심 의미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“자동 매칭 앱”에서 “구직자가 선택한 기업에 이력서를 정확히 전달하는 접수 흐름”으로 정리됨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58368" y="123444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EFF8FF"/>
          </a:solidFill>
          <a:ln w="12700">
            <a:solidFill>
              <a:srgbClr val="B6E0FE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371600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정의가 바뀜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709928"/>
            <a:ext cx="30998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초기에는 업종 기반 자동 매칭에 가까웠지만, 실제 업무 흐름은 구직자가 공고를 보고 기업을 선택하는 구조였다.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따라서 핵심은 추천 알고리즘보다 접수·동의·전달의 정확성이다.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389120" y="123444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0FFF4"/>
          </a:solidFill>
          <a:ln w="12700">
            <a:solidFill>
              <a:srgbClr val="B7E4C7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53712" y="1371600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연결 구조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53712" y="1709928"/>
            <a:ext cx="30998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채용공고 전문은 jobmatching에 담지 않고, 원본 공고 링크로 연결한다.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웹앱은 공고 요약·직무·지역·선택 상태만 관리한다.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119872" y="1234440"/>
            <a:ext cx="3429000" cy="4251960"/>
          </a:xfrm>
          <a:prstGeom prst="roundRect">
            <a:avLst>
              <a:gd name="adj" fmla="val 2133"/>
            </a:avLst>
          </a:prstGeom>
          <a:solidFill>
            <a:srgbClr val="FFF8E6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4464" y="1371600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관리 가능성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84464" y="1709928"/>
            <a:ext cx="3099816" cy="3685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관리자는 6개 탭 대시보드로 접수 현황, 기업별 현황, 이메일 로그, 원본 공고 연결 상태를 확인한다.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중 누락을 줄이는 구조다.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현재까지 확정된 사용자 흐름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홈페이지와 jobmatching의 역할을 분리해 사용자의 행동 흐름을 단순화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E8F1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441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2416" y="13807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홈페이지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49808" y="17373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모집공고 검색·열람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035808" y="1728216"/>
            <a:ext cx="320040" cy="201168"/>
          </a:xfrm>
          <a:prstGeom prst="rightArrow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9856" y="123444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E8F1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3441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95344" y="13807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홈페이지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02736" y="17373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이력서 사전 접수 클릭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5888736" y="1728216"/>
            <a:ext cx="320040" cy="201168"/>
          </a:xfrm>
          <a:prstGeom prst="rightArrow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123444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EAFB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3441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48272" y="13807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55664" y="17373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기업 자동 체크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8741664" y="1728216"/>
            <a:ext cx="320040" cy="201168"/>
          </a:xfrm>
          <a:prstGeom prst="rightArrow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25712" y="1234440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EAFB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0" y="134416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0" y="1380744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9308592" y="1737360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직무 다른 공고 확인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566928" y="3730752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FFF2CC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" y="3840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42416" y="3877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원본 공고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49808" y="42336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탭에서 전문 확인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3035808" y="4224528"/>
            <a:ext cx="320040" cy="201168"/>
          </a:xfrm>
          <a:prstGeom prst="rightArrow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19856" y="3730752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EAFB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29584" y="3840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895344" y="3877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602736" y="42336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체크·이력서 업로드·동의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5888736" y="4224528"/>
            <a:ext cx="320040" cy="201168"/>
          </a:xfrm>
          <a:prstGeom prst="rightArrow">
            <a:avLst/>
          </a:prstGeom>
          <a:solidFill>
            <a:srgbClr val="64CCC5"/>
          </a:solidFill>
          <a:ln w="12700">
            <a:solidFill>
              <a:srgbClr val="64CCC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72784" y="3730752"/>
            <a:ext cx="2423160" cy="1234440"/>
          </a:xfrm>
          <a:prstGeom prst="roundRect">
            <a:avLst>
              <a:gd name="adj" fmla="val 5926"/>
            </a:avLst>
          </a:prstGeom>
          <a:solidFill>
            <a:srgbClr val="EAFBF8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840480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748272" y="3877056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55664" y="4233672"/>
            <a:ext cx="2057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기업 + 매칭 담당자에게 전달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만들었나: 현재 MVP 범위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가능한 기능은 만들고, 운영 버전에서 필요한 고도화는 의도적으로 남겨둠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66928" y="1078992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16152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확대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4140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 50명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고용기업 50개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 8개·지역 분산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078992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30752" y="1216152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 선택 흐름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730752" y="1554480"/>
            <a:ext cx="24140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postingId/companyId 수신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최초 기업 자동 체크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해제 가능 안내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65392" y="1078992"/>
            <a:ext cx="27432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29984" y="1216152"/>
            <a:ext cx="2414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 연결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29984" y="1554480"/>
            <a:ext cx="24140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+ 원본 링크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탭으로 전문 확인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웹앱 경량화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564624" y="1078992"/>
            <a:ext cx="205740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729216" y="1216152"/>
            <a:ext cx="1728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B8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729216" y="1554480"/>
            <a:ext cx="1728216" cy="1307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 문구 반영</a:t>
            </a:r>
            <a:endParaRPr lang="en-US" sz="1040" dirty="0"/>
          </a:p>
          <a:p>
            <a:pPr indent="0" marL="0">
              <a:buNone/>
            </a:pPr>
            <a:r>
              <a:rPr lang="en-US" sz="104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체크박스</a:t>
            </a:r>
            <a:endParaRPr lang="en-US" sz="1040" dirty="0"/>
          </a:p>
        </p:txBody>
      </p:sp>
      <p:sp>
        <p:nvSpPr>
          <p:cNvPr id="16" name="Shape 14"/>
          <p:cNvSpPr/>
          <p:nvPr/>
        </p:nvSpPr>
        <p:spPr>
          <a:xfrm>
            <a:off x="566928" y="3364992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EAFBF8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502152"/>
            <a:ext cx="4928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발송 시뮬레이션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840480"/>
            <a:ext cx="49286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구직자가 체크한 기업 담당자에게 각각 이력서 전달 로그 생성. 매칭 담당자에게도 신청 1건당 알림 로그 생성.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3364992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EFF8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502152"/>
            <a:ext cx="4928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6개 탭 관리자 대시보드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09360" y="3840480"/>
            <a:ext cx="49286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핵심현황 / 직무별 현황 / 기업별 현황 / 구직자별 상세 / 이메일 발송 로그 / 원본 공고 연결 관리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잘된 점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요구사항을 바로 코드화하지 않고 업무 흐름을 재정의한 것이 가장 큰 성과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3232" y="109728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EAFBF8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234440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역할 분리가 명확해짐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572768"/>
            <a:ext cx="305409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홈페이지는 공고 전문과 최초 유입을 담당하고, jobmatching은 선택·동의·이력서 전달을 담당한다.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결과적으로 앱이 무거워지는 문제를 피했다.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407408" y="109728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EFF8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1234440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직무 기준으로 단순화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572768"/>
            <a:ext cx="305409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업종이 아니라 직무 기준으로 공고를 묶었다.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 입장에서는 “내가 본 공고와 유사한 다른 기회”를 확인하는 방식이 더 자연스럽다.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101584" y="1097280"/>
            <a:ext cx="3383280" cy="4297680"/>
          </a:xfrm>
          <a:prstGeom prst="roundRect">
            <a:avLst>
              <a:gd name="adj" fmla="val 2162"/>
            </a:avLst>
          </a:prstGeom>
          <a:solidFill>
            <a:srgbClr val="FFF8E6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66176" y="1234440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운영자의 확인 지점 확보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66176" y="1572768"/>
            <a:ext cx="305409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 로그, 기업별 접수 현황, 원본 공고 연결 관리 탭을 통해 운영 중 누락·오류를 발견할 수 있다.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점과 리스크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MVP 단계에서 아직 운영 안정성까지 완성된 것은 아님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0F0"/>
          </a:solidFill>
          <a:ln w="12700">
            <a:solidFill>
              <a:srgbClr val="F3B4B4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280160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연결 리스크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" y="1618488"/>
            <a:ext cx="3099816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홈페이지의 공고 ID와 jobmatching 내부 데이터가 어긋나면 잘못된 기업이 자동 체크될 수 있다.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postingId 기준 관리가 필요하다.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4425696" y="11430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FF8E6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0288" y="1280160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이메일은 아직 시뮬레이션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90288" y="1618488"/>
            <a:ext cx="3099816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현재는 실제 발송이 아니라 로그 생성이다.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버전에서는 첨부파일 보안, 발송 실패, 재시도, 수신 확인 정책이 필요하다.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8138160" y="1143000"/>
            <a:ext cx="3429000" cy="4526280"/>
          </a:xfrm>
          <a:prstGeom prst="roundRect">
            <a:avLst>
              <a:gd name="adj" fmla="val 2133"/>
            </a:avLst>
          </a:prstGeom>
          <a:solidFill>
            <a:srgbClr val="F5F7FA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02752" y="1280160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처리 검토 필요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02752" y="1618488"/>
            <a:ext cx="3099816" cy="3959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문안은 반영했지만 실제 운영 전에는 보관기간, 접근권한, 파기, 로그 관리, 첨부파일 저장 정책이 확정되어야 한다.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한다면 이렇게 시작하겠다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목록보다 “데이터 흐름과 책임 경계”를 먼저 확정하는 방식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475488" cy="475488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271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417320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홈페이지와 jobmatching의 책임 분리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1490472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 원문, 유입 링크, 접수 처리, 이메일 전달의 담당 시스템을 먼저 나눈다.</a:t>
            </a:r>
            <a:endParaRPr lang="en-US" sz="970" dirty="0"/>
          </a:p>
        </p:txBody>
      </p:sp>
      <p:sp>
        <p:nvSpPr>
          <p:cNvPr id="8" name="Shape 6"/>
          <p:cNvSpPr/>
          <p:nvPr/>
        </p:nvSpPr>
        <p:spPr>
          <a:xfrm>
            <a:off x="731520" y="2313432"/>
            <a:ext cx="475488" cy="475488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44144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2313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postingId를 핵심 키로 설계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417320" y="266090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ID보다 공고 ID를 우선한다. 같은 기업의 복수 공고를 구분하기 위해서다.</a:t>
            </a:r>
            <a:endParaRPr lang="en-US" sz="970" dirty="0"/>
          </a:p>
        </p:txBody>
      </p:sp>
      <p:sp>
        <p:nvSpPr>
          <p:cNvPr id="12" name="Shape 10"/>
          <p:cNvSpPr/>
          <p:nvPr/>
        </p:nvSpPr>
        <p:spPr>
          <a:xfrm>
            <a:off x="731520" y="3483864"/>
            <a:ext cx="475488" cy="475488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1188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348386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개인정보·이메일 정책 선확정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417320" y="3831336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문안, 첨부파일 처리, 담당자 알림, 로그 보관 기준을 초기에 확정한다.</a:t>
            </a:r>
            <a:endParaRPr lang="en-US" sz="970" dirty="0"/>
          </a:p>
        </p:txBody>
      </p:sp>
      <p:sp>
        <p:nvSpPr>
          <p:cNvPr id="16" name="Shape 14"/>
          <p:cNvSpPr/>
          <p:nvPr/>
        </p:nvSpPr>
        <p:spPr>
          <a:xfrm>
            <a:off x="731520" y="4654296"/>
            <a:ext cx="475488" cy="475488"/>
          </a:xfrm>
          <a:prstGeom prst="ellipse">
            <a:avLst/>
          </a:prstGeom>
          <a:solidFill>
            <a:srgbClr val="176B87"/>
          </a:solidFill>
          <a:ln w="12700">
            <a:solidFill>
              <a:srgbClr val="176B8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78231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4654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대시보드 요구를 먼저 정의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417320" y="500176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운영자가 무엇을 확인해야 하는지 정하면 필요한 데이터 구조가 자연스럽게 나온다.</a:t>
            </a:r>
            <a:endParaRPr lang="en-US" sz="970" dirty="0"/>
          </a:p>
        </p:txBody>
      </p:sp>
      <p:sp>
        <p:nvSpPr>
          <p:cNvPr id="20" name="Text 18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기록: 왜 “요약 + 원본 링크”인가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웹앱을 가볍게 유지하면서도 구직자가 원문을 확인할 수 있는 절충안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FFF0F0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50392" y="128016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웹앱에 공고 전문 저장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392" y="1618488"/>
            <a:ext cx="300837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한 화면에서 확인 가능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데이터가 무거워지고 원본 수정 반영이 어려움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MVP에는 과함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4434840" y="114300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FFF8E6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99432" y="128016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5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iframe으로 원본 표시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99432" y="1618488"/>
            <a:ext cx="300837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이동 없이 확인 가능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외부 사이트 보안 설정에 막힐 수 있고 모바일 UX가 불안정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안정성 낮음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8183880" y="114300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EAFBF8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48472" y="1280160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+ 원본 링크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48472" y="1618488"/>
            <a:ext cx="3008376" cy="3730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장점: 가볍고, 원본 정보 일원화 가능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단점: 사용자가 새 탭에서 돌아와야 함</a:t>
            </a:r>
            <a:endParaRPr lang="en-US" sz="980" dirty="0"/>
          </a:p>
          <a:p>
            <a:pPr indent="0" marL="0">
              <a:buNone/>
            </a:pP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판단: 현재 단계 최적안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0040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MVP 완성 전 남은 과제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94360" y="80467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66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“내부 확인용 MVP”, 운영 버전으로 가려면 아래 의사결정이 필요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40080" y="1078992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21615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이메일 발송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554480"/>
            <a:ext cx="232257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SMTP/API 선택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첨부파일 용량 제한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재시도 정책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078992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85032" y="121615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공고 데이터 관리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85032" y="1554480"/>
            <a:ext cx="232257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postingId 체계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업로드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마감/비공개 상태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078992"/>
            <a:ext cx="26517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216152"/>
            <a:ext cx="2322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보안·개인정보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65392" y="1554480"/>
            <a:ext cx="232257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접근권한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저장/파기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이력 보관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81160" y="1078992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45752" y="1216152"/>
            <a:ext cx="1911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445752" y="1554480"/>
            <a:ext cx="1911096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가능한 주소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인증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백엔드 DB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EFF8FF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04672" y="3657600"/>
            <a:ext cx="4928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관점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995928"/>
            <a:ext cx="49286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 1명이 여러 기업을 선택하는 흐름, 자동 선택 기업 해제, 원본 공고 새 탭 이동, 이메일 로그 생성까지 end-to-end 확인 필요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3520440"/>
            <a:ext cx="5257800" cy="1600200"/>
          </a:xfrm>
          <a:prstGeom prst="roundRect">
            <a:avLst>
              <a:gd name="adj" fmla="val 4571"/>
            </a:avLst>
          </a:prstGeom>
          <a:solidFill>
            <a:srgbClr val="EAFBF8"/>
          </a:solidFill>
          <a:ln w="12700">
            <a:solidFill>
              <a:srgbClr val="E0E8F0"/>
            </a:solidFill>
            <a:prstDash val="solid"/>
          </a:ln>
          <a:effectLst>
            <a:outerShdw sx="100000" sy="100000" kx="0" ky="0" algn="bl" rotWithShape="0" blurRad="19050" dist="50800" dir="2700000">
              <a:srgbClr val="D9E2EC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28232" y="3657600"/>
            <a:ext cx="4928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관점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28232" y="3995928"/>
            <a:ext cx="4928616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관리자가 기업별 접수 현황과 이메일 발송 로그를 보고 “누락 없이 접수되었는지” 판단할 수 있어야 함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 w="12700">
            <a:solidFill>
              <a:srgbClr val="0F2A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1097280"/>
            <a:ext cx="4114800" cy="4114800"/>
          </a:xfrm>
          <a:prstGeom prst="arc">
            <a:avLst/>
          </a:prstGeom>
          <a:noFill/>
          <a:ln w="50800">
            <a:solidFill>
              <a:srgbClr val="64CCC5">
                <a:alpha val="8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2057400"/>
            <a:ext cx="8961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공유할 핵심 메시지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49808" y="278892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AFF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MVP의 가치는 화면보다 “업무 흐름을 정확히 재정의한 것”에 있다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3840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D6D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단계는 실제 운영 조건을 반영해 이메일·공고 데이터·개인정보 처리를 안전하게 연결하는 것이다.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6611112"/>
            <a:ext cx="5029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jobmatching MVP 작업경과 공유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4800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4937760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41832" y="5276088"/>
            <a:ext cx="2916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구직자가 선택한 기업에 이력서를 정확히 전달하는 경량 접수 시스템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434840" y="4800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4937760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교훈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99432" y="5276088"/>
            <a:ext cx="2916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자동화보다 먼저 실제 사용자 행동과 운영 책임을 정리해야 한다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092440" y="480060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4937760"/>
            <a:ext cx="2916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A4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의사결정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57032" y="5276088"/>
            <a:ext cx="2916936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1720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이메일 발송, postingId 관리, 개인정보 처리 정책 확정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상상우리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jobmatching MVP 작업경과 공유</dc:title>
  <dc:subject>jobmatching MVP 작업경과와 회고</dc:subject>
  <dc:creator>Hermes Agent</dc:creator>
  <cp:lastModifiedBy>Hermes Agent</cp:lastModifiedBy>
  <cp:revision>1</cp:revision>
  <dcterms:created xsi:type="dcterms:W3CDTF">2026-06-18T13:21:17Z</dcterms:created>
  <dcterms:modified xsi:type="dcterms:W3CDTF">2026-06-18T13:21:17Z</dcterms:modified>
</cp:coreProperties>
</file>